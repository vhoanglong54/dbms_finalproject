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8" Type="http://schemas.openxmlformats.org/officeDocument/2006/relationships/viewProps" Target="viewProps.xml" /><Relationship Id="rId1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0" Type="http://schemas.openxmlformats.org/officeDocument/2006/relationships/tableStyles" Target="tableStyles.xml" /><Relationship Id="rId1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HỆ THỐNG QUẢN LÝ PHÒNG GYM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Đồ án DBMS330284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Bài toán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Một nguồn dữ liệu cho hội viên, tài chính, lớp và check-in</a:t>
            </a:r>
          </a:p>
          <a:p>
            <a:pPr lvl="0"/>
            <a:r>
              <a:rPr/>
              <a:t>Giảm nhập trùng, sai công nợ, trùng lịch và overbooking</a:t>
            </a:r>
          </a:p>
          <a:p>
            <a:pPr lvl="0"/>
            <a:r>
              <a:rPr/>
              <a:t>Báo cáo trực tiếp trên SQL Server theo vai trò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Phạm 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Hồ sơ hội viên và thể trạng</a:t>
            </a:r>
          </a:p>
          <a:p>
            <a:pPr lvl="0"/>
            <a:r>
              <a:rPr/>
              <a:t>Gói tập, đăng ký, hóa đơn, thanh toán</a:t>
            </a:r>
          </a:p>
          <a:p>
            <a:pPr lvl="0"/>
            <a:r>
              <a:rPr/>
              <a:t>Phòng, loại lớp, lịch, booking, hàng chờ</a:t>
            </a:r>
          </a:p>
          <a:p>
            <a:pPr lvl="0"/>
            <a:r>
              <a:rPr/>
              <a:t>Check-in, dashboard và bốn nhóm báo cáo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Kiến trúc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Razor MVC → Authorization → ADO.NET Repository
          → Stored Procedure / View / Function
          → SQL Server</a:t>
            </a:r>
          </a:p>
          <a:p>
            <a:pPr lvl="0"/>
            <a:r>
              <a:rPr/>
              <a:t>Ghi dữ liệu chỉ qua stored procedure</a:t>
            </a:r>
          </a:p>
          <a:p>
            <a:pPr lvl="0"/>
            <a:r>
              <a:rPr/>
              <a:t>Connection string nằm ngoài source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Mô hình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15 bảng, 19 khóa ngoại, chuẩn hóa 3NF</a:t>
            </a:r>
          </a:p>
          <a:p>
            <a:pPr lvl="0"/>
            <a:r>
              <a:rPr/>
              <a:t>Nhóm Identity: VaiTro, NguoiDung, NhanVien</a:t>
            </a:r>
          </a:p>
          <a:p>
            <a:pPr lvl="0"/>
            <a:r>
              <a:rPr/>
              <a:t>Nhóm Membership: HoiVien, GoiTap, DangKyGoi</a:t>
            </a:r>
          </a:p>
          <a:p>
            <a:pPr lvl="0"/>
            <a:r>
              <a:rPr/>
              <a:t>Nhóm Billing: HoaDon, CTHoaDon, ThanhToan</a:t>
            </a:r>
          </a:p>
          <a:p>
            <a:pPr lvl="0"/>
            <a:r>
              <a:rPr/>
              <a:t>Nhóm Operations: PhongTap, LopTap, LichLop, DatLop, CheckIn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Đối tượng SQL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Hạng mục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Kết quả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đáng tin cậy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Trigger / View / 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 / 9 / 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Procedure / Function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42 / 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Procedure transaction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Luồng membership &amp;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Tạo/cập nhật hội viên</a:t>
            </a:r>
          </a:p>
          <a:p>
            <a:pPr lvl="0" indent="-342900" marL="342900">
              <a:buAutoNum type="arabicPeriod"/>
            </a:pPr>
            <a:r>
              <a:rPr/>
              <a:t>Chọn gói và ngày bắt đầu</a:t>
            </a:r>
          </a:p>
          <a:p>
            <a:pPr lvl="0" indent="-342900" marL="342900">
              <a:buAutoNum type="arabicPeriod"/>
            </a:pPr>
            <a:r>
              <a:rPr/>
              <a:t>Tạo đăng ký + hóa đơn + chi tiết</a:t>
            </a:r>
          </a:p>
          <a:p>
            <a:pPr lvl="0" indent="-342900" marL="342900">
              <a:buAutoNum type="arabicPeriod"/>
            </a:pPr>
            <a:r>
              <a:rPr/>
              <a:t>PENDING/PARTIAL cho đến khi trả đủ</a:t>
            </a:r>
          </a:p>
          <a:p>
            <a:pPr lvl="0" indent="-342900" marL="342900">
              <a:buAutoNum type="arabicPeriod"/>
            </a:pPr>
            <a:r>
              <a:rPr/>
              <a:t>Thanh toán đủ → hóa đơn PAID, gói ACTIVE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Luồng lớp và check-in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Chặn phòng/HLV trùng lịch</a:t>
            </a:r>
          </a:p>
          <a:p>
            <a:pPr lvl="0"/>
            <a:r>
              <a:rPr/>
              <a:t>Chặn sức chứa lịch vượt phòng</a:t>
            </a:r>
          </a:p>
          <a:p>
            <a:pPr lvl="0"/>
            <a:r>
              <a:rPr/>
              <a:t>Đặt chỗ tuần tự bằng </a:t>
            </a:r>
            <a:r>
              <a:rPr>
                <a:latin typeface="Courier"/>
              </a:rPr>
              <a:t>UPDLOCK, HOLDLOCK</a:t>
            </a:r>
          </a:p>
          <a:p>
            <a:pPr lvl="0"/>
            <a:r>
              <a:rPr/>
              <a:t>Hết chỗ → WAITLISTED; hủy → tự đôn</a:t>
            </a:r>
          </a:p>
          <a:p>
            <a:pPr lvl="0"/>
            <a:r>
              <a:rPr/>
              <a:t>Check-in kiểm gói và giới hạn lượt/ngày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Bảo mật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PBKDF2-SHA256, salt riêng, 100.000 vòng</a:t>
            </a:r>
          </a:p>
          <a:p>
            <a:pPr lvl="0"/>
            <a:r>
              <a:rPr/>
              <a:t>Khóa 15 phút sau 5 lần sai</a:t>
            </a:r>
          </a:p>
          <a:p>
            <a:pPr lvl="0"/>
            <a:r>
              <a:rPr/>
              <a:t>5 DB role; có GRANT, DENY, REVOKE</a:t>
            </a:r>
          </a:p>
          <a:p>
            <a:pPr lvl="0"/>
            <a:r>
              <a:rPr>
                <a:latin typeface="Courier"/>
              </a:rPr>
              <a:t>rl_GymApp</a:t>
            </a:r>
            <a:r>
              <a:rPr/>
              <a:t>: chỉ EXECUTE, không DML bảng trực tiếp</a:t>
            </a:r>
          </a:p>
          <a:p>
            <a:pPr lvl="0"/>
            <a:r>
              <a:rPr/>
              <a:t>Cookie policy theo ADMIN/RECEPTIONIST/TRAINER/ACCOUNTANT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Ứng dụng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CRUD hội viên, gói, phòng, loại lớp</a:t>
            </a:r>
          </a:p>
          <a:p>
            <a:pPr lvl="0"/>
            <a:r>
              <a:rPr/>
              <a:t>Đăng ký, thanh toán, lịch, booking, check-in</a:t>
            </a:r>
          </a:p>
          <a:p>
            <a:pPr lvl="0"/>
            <a:r>
              <a:rPr/>
              <a:t>Tìm kiếm phân trang</a:t>
            </a:r>
          </a:p>
          <a:p>
            <a:pPr lvl="0"/>
            <a:r>
              <a:rPr/>
              <a:t>Dashboard theo vai trò</a:t>
            </a:r>
          </a:p>
          <a:p>
            <a:pPr lvl="0"/>
            <a:r>
              <a:rPr/>
              <a:t>Báo cáo doanh thu, công suất, điểm danh, hết hạn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Clean-install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\database\run-database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ps1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DatabaseName GymRubricAudit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DropExisting</a:t>
            </a:r>
          </a:p>
          <a:p>
            <a:pPr lvl="0"/>
            <a:r>
              <a:rPr/>
              <a:t>Tạo schema → module → security → seed → smoke</a:t>
            </a:r>
          </a:p>
          <a:p>
            <a:pPr lvl="0"/>
            <a:r>
              <a:rPr/>
              <a:t>Tất cả bốn tầng smoke test PASS</a:t>
            </a:r>
          </a:p>
          <a:p>
            <a:pPr lvl="0"/>
            <a:r>
              <a:rPr/>
              <a:t>Rollback và catalog gate PASS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11. End-to-end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HV000101
→ PREMIUM-90
→ ACTIVE + PAID
→ Booking CONFIRMED
→ CheckIn = 1</a:t>
            </a:r>
          </a:p>
          <a:p>
            <a:pPr lvl="0"/>
            <a:r>
              <a:rPr/>
              <a:t>Đăng nhập thật từ SQL Server</a:t>
            </a:r>
          </a:p>
          <a:p>
            <a:pPr lvl="0"/>
            <a:r>
              <a:rPr/>
              <a:t>Health và 10 route chính: HTTP 200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12. Concurrency &amp;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Session B chờ 4,835 giây</a:t>
            </a:r>
          </a:p>
          <a:p>
            <a:pPr lvl="0"/>
            <a:r>
              <a:rPr/>
              <a:t>Kết quả: 1 CONFIRMED + 1 WAITLISTED</a:t>
            </a:r>
          </a:p>
          <a:p>
            <a:pPr lvl="0"/>
            <a:r>
              <a:rPr/>
              <a:t>Không overbooking</a:t>
            </a:r>
          </a:p>
          <a:p>
            <a:pPr lvl="0"/>
            <a:r>
              <a:rPr/>
              <a:t>Logical reads </a:t>
            </a:r>
            <a:r>
              <a:rPr>
                <a:latin typeface="Courier"/>
              </a:rPr>
              <a:t>LichLop</a:t>
            </a:r>
            <a:r>
              <a:rPr/>
              <a:t>: 18 → 3, giảm 83,3%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13. Demo bảo vệ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Login theo bốn vai trò</a:t>
            </a:r>
          </a:p>
          <a:p>
            <a:pPr lvl="0" indent="-342900" marL="342900">
              <a:buAutoNum type="arabicPeriod"/>
            </a:pPr>
            <a:r>
              <a:rPr/>
              <a:t>Tạo hội viên và giao dịch PARTIAL → PAID</a:t>
            </a:r>
          </a:p>
          <a:p>
            <a:pPr lvl="0" indent="-342900" marL="342900">
              <a:buAutoNum type="arabicPeriod"/>
            </a:pPr>
            <a:r>
              <a:rPr/>
              <a:t>Đặt lớp, hàng chờ và check-in</a:t>
            </a:r>
          </a:p>
          <a:p>
            <a:pPr lvl="0" indent="-342900" marL="342900">
              <a:buAutoNum type="arabicPeriod"/>
            </a:pPr>
            <a:r>
              <a:rPr/>
              <a:t>Dashboard/report</a:t>
            </a:r>
          </a:p>
          <a:p>
            <a:pPr lvl="0" indent="-342900" marL="342900">
              <a:buAutoNum type="arabicPeriod"/>
            </a:pPr>
            <a:r>
              <a:rPr/>
              <a:t>Chạy security + concurrency + index evidence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14. 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Bao phủ toàn bộ nhóm tiêu chí kỹ thuật của rubric</a:t>
            </a:r>
          </a:p>
          <a:p>
            <a:pPr lvl="0"/>
            <a:r>
              <a:rPr/>
              <a:t>Database là nguồn sự thật nghiệp vụ</a:t>
            </a:r>
          </a:p>
          <a:p>
            <a:pPr lvl="0"/>
            <a:r>
              <a:rPr/>
              <a:t>Bộ cài và test tái tạo bằng một lệnh</a:t>
            </a:r>
          </a:p>
          <a:p>
            <a:pPr lvl="0"/>
            <a:r>
              <a:rPr/>
              <a:t>Hướng mở rộng: QR, thanh toán thật, đa chi nhánh, audit nâng cao</a:t>
            </a:r>
          </a:p>
          <a:p>
            <a:pPr lvl="0" indent="0" marL="0">
              <a:buNone/>
            </a:pPr>
            <a:r>
              <a:rPr b="1"/>
              <a:t>Xin cảm ơn!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QUẢN LÝ PHÒNG GYM</dc:title>
  <dc:creator/>
  <cp:keywords/>
  <dcterms:created xsi:type="dcterms:W3CDTF">2026-10-10T13:16:08Z</dcterms:created>
  <dcterms:modified xsi:type="dcterms:W3CDTF">2026-10-10T13:16:08Z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  <property fmtid="{D5CDD505-2E9C-101B-9397-08002B2CF9AE}" pid="3" name="subtitle">
    <vt:lpwstr>Đồ án DBMS330284</vt:lpwstr>
  </property>
</Properties>
</file>